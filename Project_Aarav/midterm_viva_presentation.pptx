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5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87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95E3-AAD1-1942-F555-D2972218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4F8ED-4C90-1B7C-40B5-AF57F7D37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4457E-791B-0062-842B-A723AD64D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ECBE6-416A-C9C9-C2EB-D0B360835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61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solidFill>
            <a:srgbClr val="0D2247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Developing a Standardized and Reproducible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Evaluation Framework for IoV Intrusion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Detection Using the CICIoV2024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A623"/>
                </a:solidFill>
              </a:rPr>
              <a:t>Project Progress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[Aarav Bhandari]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999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[220905448]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32186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[CSE Core — </a:t>
            </a:r>
            <a:r>
              <a:rPr lang="en-US" sz="1100" dirty="0" err="1">
                <a:solidFill>
                  <a:srgbClr val="B0BEC5"/>
                </a:solidFill>
              </a:rPr>
              <a:t>B.Tech</a:t>
            </a:r>
            <a:r>
              <a:rPr lang="en-US" sz="1100" dirty="0">
                <a:solidFill>
                  <a:srgbClr val="B0BEC5"/>
                </a:solidFill>
              </a:rPr>
              <a:t>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</a:rPr>
              <a:t>Under the guidance of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4041648"/>
            <a:ext cx="3474720" cy="594360"/>
          </a:xfrm>
          <a:prstGeom prst="rect">
            <a:avLst/>
          </a:prstGeom>
          <a:solidFill>
            <a:srgbClr val="0D2247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34640" y="40416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Dr. Girija Attigeri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[Associate Professor, School of Computer Engineering]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65760" cy="59436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657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Literature Survey / Background Theory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3657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32257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32257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Problem Definition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365760" cy="59436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07238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0723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3657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82219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8221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3657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8229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822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Work Done So Far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572768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1572768"/>
            <a:ext cx="365760" cy="59436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157276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15727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Remaining Work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322576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2322576"/>
            <a:ext cx="3657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232257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232257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Scope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072384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3072384"/>
            <a:ext cx="3657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07238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30723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822192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822192"/>
            <a:ext cx="365760" cy="59436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0" y="382219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38221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3 / 20</a:t>
            </a:r>
            <a:endParaRPr lang="en-US" sz="9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4D38924-38F1-D4E3-3E37-384307F97FA7}"/>
              </a:ext>
            </a:extLst>
          </p:cNvPr>
          <p:cNvSpPr/>
          <p:nvPr/>
        </p:nvSpPr>
        <p:spPr>
          <a:xfrm>
            <a:off x="411480" y="1597048"/>
            <a:ext cx="7983590" cy="221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52546651-0F31-1588-9B42-FDE85B224401}"/>
              </a:ext>
            </a:extLst>
          </p:cNvPr>
          <p:cNvSpPr/>
          <p:nvPr/>
        </p:nvSpPr>
        <p:spPr>
          <a:xfrm>
            <a:off x="411480" y="1069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67A309CE-43FD-65EB-4474-59D3470FAFCF}"/>
              </a:ext>
            </a:extLst>
          </p:cNvPr>
          <p:cNvSpPr/>
          <p:nvPr/>
        </p:nvSpPr>
        <p:spPr>
          <a:xfrm>
            <a:off x="570894" y="2560634"/>
            <a:ext cx="7745452" cy="297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</a:rPr>
              <a:t>The Controller Area Network (CAN) bus — the primary communication protocol connecting all Electronic Control Units in modern vehicles — was designed without authentication, encryption, or access control, making it fundamentally vulnerable to cyberattacks such as Denial-of-Service and sensor spoofing. Despite a growing body of ML-based intrusion detection research, the field lacks a standardized, reproducible evaluation framework, with studies using inconsistent preprocessing, incompatible split strategies, and no assessment of robustness or zero-day generalization — making it impossible to fairly compare or validate approaches for real-world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Literature Survey / Background Theory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A623"/>
                </a:solidFill>
              </a:rPr>
              <a:t>20 references organized across 5 thematic categories, elaborate table in the following slides.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508760"/>
          </a:xfrm>
          <a:prstGeom prst="rect">
            <a:avLst/>
          </a:prstGeom>
          <a:solidFill>
            <a:srgbClr val="0D2247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651760" cy="347472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 CICIoV2024 Dataset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[1] Neto et al. [2] Le &amp; Alsmadi [3] Janbi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508760"/>
          </a:xfrm>
          <a:prstGeom prst="rect">
            <a:avLst/>
          </a:prstGeom>
          <a:solidFill>
            <a:srgbClr val="0D2247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07899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 IoV &amp; CAN Security Surveys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4447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[4] Rajapaksha [5] Özdemir [6] Lampe [7] PeerJ [8] Wu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508760"/>
          </a:xfrm>
          <a:prstGeom prst="rect">
            <a:avLst/>
          </a:prstGeom>
          <a:solidFill>
            <a:srgbClr val="0D2247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0" y="107899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 ML-Based CAN IDS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4447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[9] Song [10] Hossain [11] Tariq [12] Yang [13] Nazeer [14] Miller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651760" cy="1508760"/>
          </a:xfrm>
          <a:prstGeom prst="rect">
            <a:avLst/>
          </a:prstGeom>
          <a:solidFill>
            <a:srgbClr val="0D2247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6517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8620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 Benchmark Datasets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22783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[15] Car-Hacking [16] OTIDS [17] CANet/SynCAN [18] ROAD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651760" cy="1508760"/>
          </a:xfrm>
          <a:prstGeom prst="rect">
            <a:avLst/>
          </a:prstGeom>
          <a:solidFill>
            <a:srgbClr val="0D2247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26517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28620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  Core ML Algorithms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322783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[19] XGBoost — Chen &amp; Guestrin [20] LightGBM — Ke et al.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0D224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⚠  Key Finding: After strict deduplication, F1-Macro drops from ~1.0 to 0.64 — the 'accuracy trap' (Le &amp; Alsmadi [2])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Literature Survey — References 1–7  (Dataset &amp; IoV Security Surveys)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7171"/>
            <a:ext cx="9144000" cy="230901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61411"/>
              </p:ext>
            </p:extLst>
          </p:nvPr>
        </p:nvGraphicFramePr>
        <p:xfrm>
          <a:off x="182880" y="621792"/>
          <a:ext cx="8785352" cy="4300569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(Year)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Drawbacks / Limitations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CICIoV2024 Dataset  [1–3]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Neto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CICIoV2024 — realistic benchmark with 5 attacks on real 2019 Ford vehicle; baseline ML evaluation included.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vehicle model; extreme class imbalance (GAS: 25 unique frames after dedup).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&amp; Alsmadi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strict deduplication; exposed the "accuracy trap"; honest baseline established (F1-Macro ≈ 0.64).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K-Fold used; no holdout or zero-day evaluation; small post-dedup dataset limits generalizability.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Janbi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25 ML models on CICIoV2024; ensemble/tree-based models outperform all others under class imbalance.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robustness evaluation; no adversarial testing; no cross-dataset validation.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IoV &amp; CAN Security Surveys  [4–7]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Rajapaksha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survey of AI-based in-vehicle IDS (2016–2022); identifies inconsistent evaluation protocols as the core gap.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only — does not implement or validate solutions to identified gaps.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Özdemir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85 CAN anomaly detection papers; covers statistical, rule-based, and DL methods; highlights dataset quality limitations.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anomaly detection only; limited multi-class attack classification coverage.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Lampe &amp; Meng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review of CNN, LSTM, GRU, Bi-LSTM for automotive IDS; analyses temporal modelling suitability per architecture.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only; no new experimental results; excludes classical ML comparison.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6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PeerJ Survey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literature review covering CAN bus and Automotive Ethernet; proposes fine-grained DL-IDS taxonomy.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DL methods; no benchmarking against classical ML baselines.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74">
            <a:extLst>
              <a:ext uri="{FF2B5EF4-FFF2-40B4-BE49-F238E27FC236}">
                <a16:creationId xmlns:a16="http://schemas.microsoft.com/office/drawing/2014/main" id="{85237A28-968F-4942-D022-9A06ADC0AFE4}"/>
              </a:ext>
            </a:extLst>
          </p:cNvPr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Literature Survey — References 8–14  (ML-Based CAN IDS)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7171"/>
            <a:ext cx="9144000" cy="230901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82880" y="621792"/>
          <a:ext cx="8785352" cy="4125468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(Year)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Drawbacks / Limitations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CAN Intrusion Detection Systems  [8–14]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deep transfer learning for IoV IDS; shows TL reduces training time and memory for embedded deployment.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limited when source/target domains differ significantly; no CICIoV2024 evaluation.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CNN achieves high detection accuracy on Car-Hacking dataset; validates DL for real-time CAN monitoring.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on one dataset only; no evaluation on unseen attack types or cross-dataset generalization.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Hossain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captures temporal CAN traffic patterns; achieves high accuracy; demonstrates sequence modelling for IDS.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degrades on attack types absent from training; attacks are simulated rather than real.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Tariq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CAN-ADF framework; high recall on known attacks; structured evaluation approach.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to generalize beyond trained attack categories; no zero-day or robustness evaluation.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LCCDE ensemble assigns best model (XGBoost/LightGBM/CatBoost) per attack class; near-perfect accuracy on Car-Hacking and CICIDS2017.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holdout or cross-dataset evaluation; high model complexity; no CAN-specific dataset used.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Nazeer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DeepXG hybrid: XGBoost feature selection + DNN; 99.90% accuracy on real OBD-2 CAN traffic.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on a single proprietary dataset; not publicly reproducible; no robustness evaluation.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Miller &amp; Valasek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 demonstration of full remote vehicle takeover via CAN injection; established real-world urgency for in-vehicle cybersecurity.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Attack-specific exploit; no defensive mechanism or IDS proposed.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74">
            <a:extLst>
              <a:ext uri="{FF2B5EF4-FFF2-40B4-BE49-F238E27FC236}">
                <a16:creationId xmlns:a16="http://schemas.microsoft.com/office/drawing/2014/main" id="{4464705C-E5E7-66BB-8B4F-ABC1587616FC}"/>
              </a:ext>
            </a:extLst>
          </p:cNvPr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Literature Survey — References 15–20  (Benchmark Datasets &amp; Core ML Algorithms)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82880" y="621792"/>
          <a:ext cx="8785352" cy="3834384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(Year)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Drawbacks / Limitations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Datasets  [15–18]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Car-Hacking Dataset — most widely used CAN IDS benchmark; contains DoS, fuzzy, RPM, and gear spoofing attacks.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Attacks artificially injected; lacks multi-ECU realism; no masquerade or suspension attacks.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OTIDS dataset with fabrication, suspension, and masquerade attacks; broader diversity than Car-Hacking.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scale; limited attack variety; no real driving scenario diversity.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Hanselmann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DL-IDS handling multi-ID, variable-frequency CAN natively; introduces SynCAN synthetic dataset; unsupervised approach.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SynCAN is synthetic — limits real-world applicability; unsupervised method provides no attack-class labels.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Verma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guide to all public CAN IDS datasets; introduces ROAD dataset with real, physically verified attacks including masquerade variants.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signal-translation preprocessing required; limited to one vehicle.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ML Algorithms  [19–20]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&amp; Guestrin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— scalable, regularized gradient boosting with parallel computation; widely adopted for structured data classification.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Prone to overfitting on small datasets without careful tuning; reduced interpretability vs. simpler models.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— histogram-based gradient boosting with leaf-wise tree growth; significantly faster training than XGBoost at scale.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Leaf-wise growth can overfit on small datasets; requires careful num_leaves tuning.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696849"/>
            <a:ext cx="167620" cy="222743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11479" y="4656779"/>
            <a:ext cx="1728579" cy="308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</a:rPr>
              <a:t>CICIoV2024 Dataset [1–3]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965960" y="4696849"/>
            <a:ext cx="167620" cy="22274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148839" y="4656779"/>
            <a:ext cx="1728579" cy="308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</a:rPr>
              <a:t>IoV &amp; CAN Surveys [4–7]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703320" y="4696849"/>
            <a:ext cx="167620" cy="222743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886199" y="4656779"/>
            <a:ext cx="1728579" cy="308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</a:rPr>
              <a:t>ML-Based CAN IDS [8–14]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440680" y="4696849"/>
            <a:ext cx="167620" cy="222743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23559" y="4656779"/>
            <a:ext cx="1728579" cy="308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</a:rPr>
              <a:t>Benchmark Datasets [15–18]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178040" y="4696849"/>
            <a:ext cx="167620" cy="222743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360919" y="4656779"/>
            <a:ext cx="1728579" cy="308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</a:rPr>
              <a:t>Core ML Algorithms [19–20]</a:t>
            </a:r>
            <a:endParaRPr lang="en-US" sz="750" dirty="0"/>
          </a:p>
        </p:txBody>
      </p:sp>
      <p:sp>
        <p:nvSpPr>
          <p:cNvPr id="17" name="Text 74">
            <a:extLst>
              <a:ext uri="{FF2B5EF4-FFF2-40B4-BE49-F238E27FC236}">
                <a16:creationId xmlns:a16="http://schemas.microsoft.com/office/drawing/2014/main" id="{A2936146-D3FE-2D88-DB05-A9D0BEDC5122}"/>
              </a:ext>
            </a:extLst>
          </p:cNvPr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Definition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Despite a growing body of ML-based CAN IDS research, the field lacks a common evaluation standard — making it impossible to meaningfully compare results across papers.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Five Specific Gaps Identified from Literature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8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347472" cy="5029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647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Deduplication Inconsistency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842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</a:rPr>
              <a:t>Some studies remove CAN duplicates, others retain them, inflating performance artificially.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0" y="1737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008B8B"/>
                </a:solidFill>
              </a:rPr>
              <a:t>Le &amp; Alsmadi [2]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347472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30428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Only Random 80/20 Splits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5511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</a:rPr>
              <a:t>No cross-scenario or zero-day holdout evaluation used in most papers.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0" y="23042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4A90D9"/>
                </a:solidFill>
              </a:rPr>
              <a:t>Rajapaksha [4]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8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347472" cy="5029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287121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28986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Incompatible Metrics &amp; Datasets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1181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</a:rPr>
              <a:t>Models benchmarked on different datasets with incompatible metrics — comparison is meaningless.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0" y="287121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008B8B"/>
                </a:solidFill>
              </a:rPr>
              <a:t>Verma [18]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438144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438144"/>
            <a:ext cx="347472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3438144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4655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No Robustness Testing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68503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</a:rPr>
              <a:t>Systematic robustness testing under realistic data perturbations is absent from literature.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0" y="34381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4A90D9"/>
                </a:solidFill>
              </a:rPr>
              <a:t>Lampe &amp; Meng [6]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0050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8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74320" y="4005072"/>
            <a:ext cx="347472" cy="5029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4320" y="4005072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0325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Security Metrics Unreported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251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</a:rPr>
              <a:t>Detection rate and FPR — the most security-critical metrics — are inconsistently defined or omitted.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83680" y="40050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008B8B"/>
                </a:solidFill>
              </a:rPr>
              <a:t>Rajapaksha [4]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Definition: The CICIoV2024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840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840480" cy="32004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Facts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B8B"/>
                </a:solidFill>
              </a:rPr>
              <a:t>• </a:t>
            </a:r>
            <a:r>
              <a:rPr lang="en-US" sz="950" dirty="0">
                <a:solidFill>
                  <a:srgbClr val="1C2B3A"/>
                </a:solidFill>
              </a:rPr>
              <a:t>Source: Real 2019 Ford vehicle, all original ECUs intact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B8B"/>
                </a:solidFill>
              </a:rPr>
              <a:t>• </a:t>
            </a:r>
            <a:r>
              <a:rPr lang="en-US" sz="950" dirty="0">
                <a:solidFill>
                  <a:srgbClr val="1C2B3A"/>
                </a:solidFill>
              </a:rPr>
              <a:t>Raw frames: 1,408,219 CAN frames (6 CSV files)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B8B"/>
                </a:solidFill>
              </a:rPr>
              <a:t>• </a:t>
            </a:r>
            <a:r>
              <a:rPr lang="en-US" sz="950" dirty="0">
                <a:solidFill>
                  <a:srgbClr val="1C2B3A"/>
                </a:solidFill>
              </a:rPr>
              <a:t>After deduplication: 3,588 unique frames (99.7% reduction!)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B8B"/>
                </a:solidFill>
              </a:rPr>
              <a:t>• </a:t>
            </a:r>
            <a:r>
              <a:rPr lang="en-US" sz="950" dirty="0">
                <a:solidFill>
                  <a:srgbClr val="1C2B3A"/>
                </a:solidFill>
              </a:rPr>
              <a:t>Features: CAN ID + DATA_0..DATA_7 (8 bytes) + inter-arrival index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B8B"/>
                </a:solidFill>
              </a:rPr>
              <a:t>• </a:t>
            </a:r>
            <a:r>
              <a:rPr lang="en-US" sz="950" dirty="0">
                <a:solidFill>
                  <a:srgbClr val="1C2B3A"/>
                </a:solidFill>
              </a:rPr>
              <a:t>Class imbalance: BENIGN = 86.87%; rarest class (Spoofing-GAS) = 0.70%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685800"/>
            <a:ext cx="44805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89120" y="685800"/>
            <a:ext cx="448056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80560" y="685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 Distribution (Post-Deduplication)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39" y="1051560"/>
            <a:ext cx="1606163" cy="129409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471415" y="1051560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79" y="1051560"/>
            <a:ext cx="1104237" cy="129409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34455" y="1051560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Raw Count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803082" cy="129409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40296" y="1051560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Unique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1051560"/>
            <a:ext cx="1003852" cy="129409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71816" y="1051560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Proportion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39" y="1353312"/>
            <a:ext cx="1606163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71415" y="1353312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B3A"/>
                </a:solidFill>
              </a:rPr>
              <a:t>BENIGN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97879" y="1353312"/>
            <a:ext cx="1104237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34455" y="1353312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1,223,737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03720" y="1353312"/>
            <a:ext cx="803082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40296" y="1353312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3,117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35240" y="1353312"/>
            <a:ext cx="1003852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71816" y="1353312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86.87%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39" y="1655064"/>
            <a:ext cx="1606163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471415" y="1655064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B3A"/>
                </a:solidFill>
              </a:rPr>
              <a:t>DoS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97879" y="1655064"/>
            <a:ext cx="1104237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34455" y="1655064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74,663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03720" y="1655064"/>
            <a:ext cx="803082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0296" y="1655064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191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35240" y="1655064"/>
            <a:ext cx="1003852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671816" y="1655064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5.32%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34839" y="1956816"/>
            <a:ext cx="1606163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471415" y="1956816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B3A"/>
                </a:solidFill>
              </a:rPr>
              <a:t>Spoofing-RPM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97879" y="1956816"/>
            <a:ext cx="1104237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34455" y="1956816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54,900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903720" y="1956816"/>
            <a:ext cx="803082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940296" y="1956816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139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635240" y="1956816"/>
            <a:ext cx="1003852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671816" y="1956816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3.87%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434839" y="2258568"/>
            <a:ext cx="1606163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471415" y="2258568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B3A"/>
                </a:solidFill>
              </a:rPr>
              <a:t>Spoofing-SPEED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97879" y="2258568"/>
            <a:ext cx="1104237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934455" y="2258568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24,951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03720" y="2258568"/>
            <a:ext cx="803082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940296" y="2258568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66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635240" y="2258568"/>
            <a:ext cx="1003852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671816" y="2258568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1.84%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434839" y="2560320"/>
            <a:ext cx="1606163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471415" y="2560320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B3A"/>
                </a:solidFill>
              </a:rPr>
              <a:t>Spoofing-STEERING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897879" y="2560320"/>
            <a:ext cx="1104237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934455" y="2560320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19,977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03720" y="2560320"/>
            <a:ext cx="803082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940296" y="2560320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50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35240" y="2560320"/>
            <a:ext cx="1003852" cy="12940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671816" y="2560320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1.39%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434839" y="2862072"/>
            <a:ext cx="1606163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471415" y="2862072"/>
            <a:ext cx="1525855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B3A"/>
                </a:solidFill>
              </a:rPr>
              <a:t>Spoofing-GAS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897879" y="2862072"/>
            <a:ext cx="1104237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934455" y="2862072"/>
            <a:ext cx="1023929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9,991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903720" y="2862072"/>
            <a:ext cx="803082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940296" y="2862072"/>
            <a:ext cx="72277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25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635240" y="2862072"/>
            <a:ext cx="1003852" cy="129409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671816" y="2862072"/>
            <a:ext cx="923544" cy="129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</a:rPr>
              <a:t>0.70%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" y="3200400"/>
            <a:ext cx="859536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57200" y="3227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3F00"/>
                </a:solidFill>
              </a:rPr>
              <a:t>⚠  The "Near-Perfect Accuracy" Trap: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57200" y="349300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B3F00"/>
                </a:solidFill>
              </a:rPr>
              <a:t>Without deduplication: 1.4M frames → near-perfect F1. After deduplication: 3,588 unique frames → F1-Macro ≈ 0.64. Classifiers memorize duplicate frequency, not attack structure. This project enforces strict deduplication as a prerequisite.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1261872"/>
          </a:xfrm>
          <a:prstGeom prst="rect">
            <a:avLst/>
          </a:prstGeom>
          <a:solidFill>
            <a:srgbClr val="0D2247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02920" cy="1261872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8412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B8B"/>
                </a:solidFill>
              </a:rPr>
              <a:t>Reproducible Evaluation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13385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YAML-configurable, seeded (seed=42), SHA-256 checksums, library version logging &amp; automated report generation.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14800" cy="1261872"/>
          </a:xfrm>
          <a:prstGeom prst="rect">
            <a:avLst/>
          </a:prstGeom>
          <a:solidFill>
            <a:srgbClr val="0D2247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502920" cy="12618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74980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8412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Benchmark 4 Diverse ML Classifiers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113385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Random Forest (bagging), SVM (kernel), XGBoost (sequential boosting), LightGBM (histogram boosting) — covering fundamentally different learning paradigms.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4114800" cy="1261872"/>
          </a:xfrm>
          <a:prstGeom prst="rect">
            <a:avLst/>
          </a:prstGeom>
          <a:solidFill>
            <a:srgbClr val="0D2247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502920" cy="12618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16712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2585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</a:rPr>
              <a:t>Zero-Day Generalization 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55117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Attack-holdout evaluation across 5 experiments — each withholding an entire attack type from training to simulate real zero-day scenarios.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167128"/>
            <a:ext cx="4114800" cy="1261872"/>
          </a:xfrm>
          <a:prstGeom prst="rect">
            <a:avLst/>
          </a:prstGeom>
          <a:solidFill>
            <a:srgbClr val="0D2247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167128"/>
            <a:ext cx="502920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16712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2585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Deployment Readiness Measurement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55117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Per-sample inference latency vs. 1–10 ms CAN frame rate, FPR impact on driver experience, and embedded deployment constraints.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4114800" cy="1261872"/>
          </a:xfrm>
          <a:prstGeom prst="rect">
            <a:avLst/>
          </a:prstGeom>
          <a:solidFill>
            <a:srgbClr val="0D2247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502920" cy="12618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358444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67588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Augmentation-Based Robustness 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96849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Timing jitter (clock drift), Gaussian feature noise (sensor noise), and attack intensity scaling (variant simulation).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114800" cy="1261872"/>
          </a:xfrm>
          <a:prstGeom prst="rect">
            <a:avLst/>
          </a:prstGeom>
          <a:solidFill>
            <a:srgbClr val="0D2247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584448"/>
            <a:ext cx="502920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58444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67588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Research-Grade Documentation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396849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Structured JSON results, 60+ visualizations (confusion matrices, ROC curves, robustness heatmaps), and a research paper for IEEE/ACM submission.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Methodology: Architecture &amp; Data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Total: 4 models × 7 splits × 4 dataset variants = 112 experiments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776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103327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 CICIoV2024 Raw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30759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1,408,219 CAN frames, 6 CSV files merged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97764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55464" y="103327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 Deduplication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73752" y="130759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Remove exact dupes on (ID, DATA_0–DATA_7) → 3,588 unique frames (99.7% reduction)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39776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9184" y="199339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 Feature Engineering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26771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Inter-arrival index computed (temporal ordering)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96596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00600" y="1965960"/>
            <a:ext cx="39776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55464" y="199339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 Normalization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73752" y="226771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Min-Max scaling → all 10 features mapped to [0,1]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39776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" y="295351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  Augmentation Engine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322783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Timing Jitter (σ=2%) | Feature Noise (σ=1%) | Attack Intensity Scaling (0.85×–1.15×)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292608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3977640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55464" y="295351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06  Split Strategies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73752" y="322783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Random (80/20) | Scenario-Based | Attack Holdout ×5 = 7 configurations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88620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74320" y="3886200"/>
            <a:ext cx="39776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9184" y="391363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07  Model Training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" y="418795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RF | SVM | XGBoost | LightGBM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3886200"/>
            <a:ext cx="3977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00600" y="3886200"/>
            <a:ext cx="39776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55464" y="3913632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08  Evaluation &amp; Report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73752" y="4187952"/>
            <a:ext cx="3831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Accuracy, F1, ROC-AUC, DR, FPR, Latency → 60+ visualizations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Methodology: Split Strategies &amp; Model Configuration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Split Strategy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Split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2377440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4884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It Tests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005840"/>
            <a:ext cx="1371600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2628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Difficulty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53312"/>
            <a:ext cx="18288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533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Random (80/20)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1353312"/>
            <a:ext cx="237744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48840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Basic classification ability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353312"/>
            <a:ext cx="13716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26280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Standard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0078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1700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Scenario-Based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170078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48840" y="1700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Cross-scenario generalization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170078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26280" y="1700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Moderate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48256"/>
            <a:ext cx="182880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0482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Attack Holdout (×5)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2048256"/>
            <a:ext cx="237744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148840" y="2048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Zero-day / novel attack detection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2048256"/>
            <a:ext cx="137160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26280" y="20482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B3A"/>
                </a:solidFill>
              </a:rPr>
              <a:t>Most Challenging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487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Model Configurations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9816" y="2807208"/>
            <a:ext cx="1371600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65536" y="28072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591416" y="2807208"/>
            <a:ext cx="2926080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637136" y="28072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Parameters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17496" y="2807208"/>
            <a:ext cx="1371600" cy="347472"/>
          </a:xfrm>
          <a:prstGeom prst="rect">
            <a:avLst/>
          </a:prstGeom>
          <a:solidFill>
            <a:srgbClr val="1A3A6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63216" y="28072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 Handling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9816" y="315468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65536" y="3154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91416" y="315468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637136" y="3154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200 trees, max_depth=20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17496" y="315468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63216" y="3154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Balanced weights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9816" y="3502152"/>
            <a:ext cx="13716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65536" y="3502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SVM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91416" y="3502152"/>
            <a:ext cx="292608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637136" y="3502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RBF kernel, C=1.0, γ=scale, max_iter=5000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17496" y="3502152"/>
            <a:ext cx="13716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63216" y="3502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Balanced weights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9816" y="384962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65536" y="3849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XGBoost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591416" y="384962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637136" y="38496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200 est., max_depth=8, LR=0.1, subsample=0.8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17496" y="384962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63216" y="3849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9816" y="4197096"/>
            <a:ext cx="13716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65536" y="41970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LightGBM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591416" y="4197096"/>
            <a:ext cx="292608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1637136" y="419709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200 est., max_depth=8, 31 leaves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17496" y="4197096"/>
            <a:ext cx="13716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563216" y="41970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Balanced weights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942385" y="685800"/>
            <a:ext cx="3108960" cy="41605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942385" y="685800"/>
            <a:ext cx="3108960" cy="32004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988105" y="685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Security Metrics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88105" y="1078992"/>
            <a:ext cx="3017520" cy="749808"/>
          </a:xfrm>
          <a:prstGeom prst="rect">
            <a:avLst/>
          </a:prstGeom>
          <a:solidFill>
            <a:srgbClr val="0D2247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079545" y="11064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B8B"/>
                </a:solidFill>
              </a:rPr>
              <a:t>Detection Rate (DR)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079545" y="135331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Recall specifically on attack-class samples — "What fraction of real attacks are caught?"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988105" y="1965960"/>
            <a:ext cx="3017520" cy="749808"/>
          </a:xfrm>
          <a:prstGeom prst="rect">
            <a:avLst/>
          </a:prstGeom>
          <a:solidFill>
            <a:srgbClr val="0D224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079545" y="19933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False Positive Rate (FPR)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079545" y="22402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Fraction of benign samples incorrectly flagged as attacks — "How often does it falsely alarm?"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88105" y="2852928"/>
            <a:ext cx="3017520" cy="749808"/>
          </a:xfrm>
          <a:prstGeom prst="rect">
            <a:avLst/>
          </a:prstGeom>
          <a:solidFill>
            <a:srgbClr val="0D2247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079545" y="2880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9B6"/>
                </a:solidFill>
              </a:rPr>
              <a:t>Robustness Score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079545" y="31272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Mean |Δ metric| across augmentation types — lower score = more deployment-stable.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988105" y="3739896"/>
            <a:ext cx="3017520" cy="749808"/>
          </a:xfrm>
          <a:prstGeom prst="rect">
            <a:avLst/>
          </a:prstGeom>
          <a:solidFill>
            <a:srgbClr val="0D2247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079545" y="37673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0D9"/>
                </a:solidFill>
              </a:rPr>
              <a:t>F1-Macro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079545" y="401421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Unweighted mean F1 across all classes — accounts for class imbalance in evaluation.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 Done So Far: Completed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67512"/>
            <a:ext cx="859536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6751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✅  All 112 experiments fully executed. Results persisted in results/experiment_results.json, robustness_analysis.json, and experiment_metadata.json.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78992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" y="1115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Data Loading &amp; Merging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" y="135331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src/data_loader.py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75504" y="1115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Deduplication + Normalization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75504" y="135331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src/preprocessing.py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173736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" y="177393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" y="2011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src/feature_engineering.py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737360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73736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177393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All 3 Split Strategies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75504" y="2011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src/splitting.py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39572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2395728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239572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" y="243230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Model Factory (all 4 models)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" y="26700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src/models.py + config/config.yaml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39572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2395728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239572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75504" y="243230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Evaluation Engine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75504" y="26700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src/evaluation.py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05409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3054096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3054096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" y="30906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Augmentation Engine (all 3 types)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944" y="33284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src/augmentation_engine.py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05409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3054096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3054096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75504" y="30906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Robustness Analysis + Ranking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75504" y="33284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src/robustness.py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7124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74320" y="3712464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74320" y="3712464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4944" y="374904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Visualization (60+ plots)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4944" y="398678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src/visualization.py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37124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54880" y="3712464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54880" y="3712464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75504" y="374904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Reproducibility Logging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75504" y="398678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src/reproducibility.py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437083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274320" y="4370832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74320" y="4370832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944" y="44074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Experiment Runner (112 runs)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94944" y="46451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scripts/run_experiment.py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54880" y="437083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54880" y="4370832"/>
            <a:ext cx="36576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754880" y="4370832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75504" y="44074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</a:rPr>
              <a:t>Report Generator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175504" y="46451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C93"/>
                </a:solidFill>
              </a:rPr>
              <a:t>scripts/generate_report.py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 Done So Far: Key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Baseline Performance (Original Dataset)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9264"/>
            <a:ext cx="1417320" cy="310896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10896" y="969264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91640" y="969264"/>
            <a:ext cx="1005840" cy="310896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28216" y="96926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Random F1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97480" y="969264"/>
            <a:ext cx="1051560" cy="310896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34056" y="969264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Scenario F1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969264"/>
            <a:ext cx="1143000" cy="310896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85616" y="969264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DR (Scenario)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92040" y="969264"/>
            <a:ext cx="1005840" cy="310896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28616" y="96926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97880" y="969264"/>
            <a:ext cx="1234440" cy="310896"/>
          </a:xfrm>
          <a:prstGeom prst="rect">
            <a:avLst/>
          </a:prstGeom>
          <a:solidFill>
            <a:srgbClr val="1A3A6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34456" y="96926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Latency (ms)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280160"/>
            <a:ext cx="1417320" cy="310896"/>
          </a:xfrm>
          <a:prstGeom prst="rect">
            <a:avLst/>
          </a:prstGeom>
          <a:solidFill>
            <a:srgbClr val="0D2247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0896" y="128016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LightGBM ★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91640" y="1280160"/>
            <a:ext cx="1005840" cy="310896"/>
          </a:xfrm>
          <a:prstGeom prst="rect">
            <a:avLst/>
          </a:prstGeom>
          <a:solidFill>
            <a:srgbClr val="0D2247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728216" y="128016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0.9964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97480" y="1280160"/>
            <a:ext cx="1051560" cy="310896"/>
          </a:xfrm>
          <a:prstGeom prst="rect">
            <a:avLst/>
          </a:prstGeom>
          <a:solidFill>
            <a:srgbClr val="0D2247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34056" y="1280160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0.9972 ✦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0" y="1280160"/>
            <a:ext cx="1143000" cy="310896"/>
          </a:xfrm>
          <a:prstGeom prst="rect">
            <a:avLst/>
          </a:prstGeom>
          <a:solidFill>
            <a:srgbClr val="0D2247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85616" y="1280160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100% ✦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1280160"/>
            <a:ext cx="1005840" cy="310896"/>
          </a:xfrm>
          <a:prstGeom prst="rect">
            <a:avLst/>
          </a:prstGeom>
          <a:solidFill>
            <a:srgbClr val="0D2247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28616" y="128016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0.9999 ✦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97880" y="1280160"/>
            <a:ext cx="1234440" cy="310896"/>
          </a:xfrm>
          <a:prstGeom prst="rect">
            <a:avLst/>
          </a:prstGeom>
          <a:solidFill>
            <a:srgbClr val="0D2247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34456" y="1280160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0.0092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1591056"/>
            <a:ext cx="141732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10896" y="1591056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XGBoost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91640" y="1591056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728216" y="159105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0.9970 ✦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97480" y="1591056"/>
            <a:ext cx="105156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34056" y="159105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0.9960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49040" y="1591056"/>
            <a:ext cx="114300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85616" y="1591056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90%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92040" y="1591056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28616" y="159105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0.9999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97880" y="1591056"/>
            <a:ext cx="12344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34456" y="1591056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0.0042 ✦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1901952"/>
            <a:ext cx="141732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10896" y="1901952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691640" y="1901952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728216" y="190195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0.9964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97480" y="1901952"/>
            <a:ext cx="105156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34056" y="1901952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0.9924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749040" y="1901952"/>
            <a:ext cx="114300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785616" y="1901952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70%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92040" y="1901952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28616" y="190195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0.9991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897880" y="1901952"/>
            <a:ext cx="12344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934456" y="1901952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0.0972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2212848"/>
            <a:ext cx="141732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10896" y="2212848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SVM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691640" y="2212848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728216" y="221284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0.9924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697480" y="2212848"/>
            <a:ext cx="105156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734056" y="2212848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0.9951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749040" y="2212848"/>
            <a:ext cx="114300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785616" y="2212848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90%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92040" y="2212848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28616" y="221284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0.9999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897880" y="2212848"/>
            <a:ext cx="12344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934456" y="2212848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0.0084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74320" y="2578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B8B"/>
                </a:solidFill>
              </a:rPr>
              <a:t>Robustness Ranking (lower = more stable)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2880360"/>
            <a:ext cx="594360" cy="310896"/>
          </a:xfrm>
          <a:prstGeom prst="rect">
            <a:avLst/>
          </a:prstGeom>
          <a:solidFill>
            <a:srgbClr val="008B8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10896" y="2880360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Rank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68680" y="2880360"/>
            <a:ext cx="1371600" cy="310896"/>
          </a:xfrm>
          <a:prstGeom prst="rect">
            <a:avLst/>
          </a:prstGeom>
          <a:solidFill>
            <a:srgbClr val="008B8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05256" y="28803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240280" y="2880360"/>
            <a:ext cx="1417320" cy="310896"/>
          </a:xfrm>
          <a:prstGeom prst="rect">
            <a:avLst/>
          </a:prstGeom>
          <a:solidFill>
            <a:srgbClr val="008B8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276856" y="288036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Robustness Score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657600" y="2880360"/>
            <a:ext cx="1005840" cy="310896"/>
          </a:xfrm>
          <a:prstGeom prst="rect">
            <a:avLst/>
          </a:prstGeom>
          <a:solidFill>
            <a:srgbClr val="008B8B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694176" y="288036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Max |ΔF1|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3191256"/>
            <a:ext cx="594360" cy="310896"/>
          </a:xfrm>
          <a:prstGeom prst="rect">
            <a:avLst/>
          </a:prstGeom>
          <a:solidFill>
            <a:srgbClr val="0D3D3D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310896" y="3191256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B8B"/>
                </a:solidFill>
              </a:rPr>
              <a:t>1 ★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68680" y="3191256"/>
            <a:ext cx="1371600" cy="310896"/>
          </a:xfrm>
          <a:prstGeom prst="rect">
            <a:avLst/>
          </a:prstGeom>
          <a:solidFill>
            <a:srgbClr val="0D3D3D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905256" y="319125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B8B"/>
                </a:solidFill>
              </a:rPr>
              <a:t>SVM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240280" y="3191256"/>
            <a:ext cx="1417320" cy="310896"/>
          </a:xfrm>
          <a:prstGeom prst="rect">
            <a:avLst/>
          </a:prstGeom>
          <a:solidFill>
            <a:srgbClr val="0D3D3D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276856" y="3191256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B8B"/>
                </a:solidFill>
              </a:rPr>
              <a:t>0.000232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657600" y="3191256"/>
            <a:ext cx="1005840" cy="310896"/>
          </a:xfrm>
          <a:prstGeom prst="rect">
            <a:avLst/>
          </a:prstGeom>
          <a:solidFill>
            <a:srgbClr val="0D3D3D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694176" y="319125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B8B"/>
                </a:solidFill>
              </a:rPr>
              <a:t>0.0016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74320" y="3502152"/>
            <a:ext cx="59436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10896" y="3502152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2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68680" y="3502152"/>
            <a:ext cx="137160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905256" y="350215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240280" y="3502152"/>
            <a:ext cx="141732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276856" y="3502152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0.000355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0" y="3502152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3694176" y="350215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0.0037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74320" y="3813048"/>
            <a:ext cx="59436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10896" y="3813048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3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68680" y="3813048"/>
            <a:ext cx="137160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905256" y="381304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XGBoost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240280" y="3813048"/>
            <a:ext cx="141732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2276856" y="3813048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0.000512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657600" y="3813048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694176" y="381304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0.0022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74320" y="4123944"/>
            <a:ext cx="59436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310896" y="4123944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4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68680" y="4123944"/>
            <a:ext cx="137160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905256" y="412394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LightGBM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240280" y="4123944"/>
            <a:ext cx="141732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2276856" y="4123944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0.000535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657600" y="4123944"/>
            <a:ext cx="1005840" cy="310896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3694176" y="41239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0.0018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754880" y="2578608"/>
            <a:ext cx="4114800" cy="2240280"/>
          </a:xfrm>
          <a:prstGeom prst="rect">
            <a:avLst/>
          </a:prstGeom>
          <a:solidFill>
            <a:srgbClr val="0D2247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4754880" y="2578608"/>
            <a:ext cx="4114800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800600" y="25786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Inference Latency vs. CAN Requirements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4800600" y="29169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A623"/>
                </a:solidFill>
              </a:rPr>
              <a:t>CAN Frame Interval: 1–10 ms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800600" y="3182112"/>
            <a:ext cx="4023360" cy="32004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4846320" y="31821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XGBoost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6309360" y="31821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0.0042 ms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7406640" y="3182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7AE60"/>
                </a:solidFill>
              </a:rPr>
              <a:t>238× faster ✅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800600" y="3566160"/>
            <a:ext cx="4023360" cy="320040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484632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SVM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30936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0.0084 ms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740664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7AE60"/>
                </a:solidFill>
              </a:rPr>
              <a:t>119× faster ✅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800600" y="3950208"/>
            <a:ext cx="4023360" cy="32004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46320" y="39502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LightGBM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6309360" y="3950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0.0092 ms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7406640" y="3950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7AE60"/>
                </a:solidFill>
              </a:rPr>
              <a:t>109× faster ✅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800600" y="4334256"/>
            <a:ext cx="4023360" cy="320040"/>
          </a:xfrm>
          <a:prstGeom prst="rect">
            <a:avLst/>
          </a:prstGeom>
          <a:solidFill>
            <a:srgbClr val="0A1628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846320" y="43342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6309360" y="43342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0.0972 ms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406640" y="43342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7AE60"/>
                </a:solidFill>
              </a:rPr>
              <a:t>10× faster ✅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707AD-3084-4A75-E013-3FE1DBAC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95B04A-589E-92DD-F736-ABB78AADF8DE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FD0F3F-874C-2A31-089A-2DA412DB4C4F}"/>
              </a:ext>
            </a:extLst>
          </p:cNvPr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 Done So Far: Key Results (Figures)</a:t>
            </a:r>
            <a:endParaRPr lang="en-US" sz="20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B8F30BFB-FA2C-052A-3327-7D8B1037064E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94772E37-D439-C00B-4B0D-9C43D4667314}"/>
              </a:ext>
            </a:extLst>
          </p:cNvPr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80A3A81-BA33-136A-7241-ADA4D6AB1DDE}"/>
              </a:ext>
            </a:extLst>
          </p:cNvPr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15 / 20</a:t>
            </a:r>
            <a:endParaRPr lang="en-US" sz="900" dirty="0"/>
          </a:p>
        </p:txBody>
      </p:sp>
      <p:pic>
        <p:nvPicPr>
          <p:cNvPr id="70" name="Picture 69" descr="A graph of different colored vertical lines&#10;&#10;AI-generated content may be incorrect.">
            <a:extLst>
              <a:ext uri="{FF2B5EF4-FFF2-40B4-BE49-F238E27FC236}">
                <a16:creationId xmlns:a16="http://schemas.microsoft.com/office/drawing/2014/main" id="{D343C282-42E2-33ED-7A1A-0DAAB664A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682" y="692496"/>
            <a:ext cx="2570310" cy="1947353"/>
          </a:xfrm>
          <a:prstGeom prst="rect">
            <a:avLst/>
          </a:prstGeom>
        </p:spPr>
      </p:pic>
      <p:pic>
        <p:nvPicPr>
          <p:cNvPr id="72" name="Picture 7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7D1AFD3-A907-C6E7-F725-18DC661A5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010" y="684733"/>
            <a:ext cx="2570310" cy="1947353"/>
          </a:xfrm>
          <a:prstGeom prst="rect">
            <a:avLst/>
          </a:prstGeom>
        </p:spPr>
      </p:pic>
      <p:pic>
        <p:nvPicPr>
          <p:cNvPr id="74" name="Picture 73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FF54DC86-6E69-8C74-EF41-4D21F896D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67" y="2722459"/>
            <a:ext cx="2854925" cy="2040333"/>
          </a:xfrm>
          <a:prstGeom prst="rect">
            <a:avLst/>
          </a:prstGeom>
        </p:spPr>
      </p:pic>
      <p:pic>
        <p:nvPicPr>
          <p:cNvPr id="76" name="Picture 75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8CC9FF98-31A0-7DB4-E458-9C4108314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5233" y="2818159"/>
            <a:ext cx="3496893" cy="184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85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Remaining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301752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786384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 Deep Learning Integration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795528"/>
            <a:ext cx="77724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0" y="79552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 Priority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C2B3A"/>
                </a:solidFill>
              </a:rPr>
              <a:t>MLP, LSTM, and 1D-CNN architectures already scaffolded in src/deep_learning.py — need integration into main experiment runner for head-to-head comparison.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411480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14800" cy="3017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786384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 Sequence &amp; Sliding-Window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795528"/>
            <a:ext cx="77724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0" y="79552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 Priority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C2B3A"/>
                </a:solidFill>
              </a:rPr>
              <a:t>Implementing sliding-window aggregation across consecutive CAN frames — expected to improve DoS and RPM spoofing detection.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411480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4114800" cy="3017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218541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 Cross-Dataset Validation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2194560"/>
            <a:ext cx="77724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0" y="21945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 Priority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65760" y="2496312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C2B3A"/>
                </a:solidFill>
              </a:rPr>
              <a:t>Models trained on CICIoV2024 tested on Car-Hacking, OTIDS, and ROAD datasets to assess feature generalization across vehicle platforms.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54880" y="2148840"/>
            <a:ext cx="411480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114800" cy="3017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28032" y="218541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4.  Adversarial Robustness Evaluation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2194560"/>
            <a:ext cx="77724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46720" y="21945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 Priority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846320" y="2496312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C2B3A"/>
                </a:solidFill>
              </a:rPr>
              <a:t>Current augmentations simulate realistic noise. Next step: crafted adversarial CAN frames specifically designed to evade detection.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74320" y="3547872"/>
            <a:ext cx="411480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4114800" cy="3017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7472" y="3584448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5.  Feature Selection Benchmarking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66160" y="3593592"/>
            <a:ext cx="77724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566160" y="35935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 Priority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65760" y="3895344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C2B3A"/>
                </a:solidFill>
              </a:rPr>
              <a:t>MI, correlation filter, and PCA pipelines built in src/feature_selection.py — identify minimal feature set for embedded deployment.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754880" y="3547872"/>
            <a:ext cx="411480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3547872"/>
            <a:ext cx="4114800" cy="3017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28032" y="3584448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6.  Final Report &amp; Research Paper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46720" y="3593592"/>
            <a:ext cx="77724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8046720" y="35935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Ongoing[High Priority]</a:t>
            </a:r>
          </a:p>
        </p:txBody>
      </p:sp>
      <p:sp>
        <p:nvSpPr>
          <p:cNvPr id="39" name="Text 37"/>
          <p:cNvSpPr/>
          <p:nvPr/>
        </p:nvSpPr>
        <p:spPr>
          <a:xfrm>
            <a:off x="4846320" y="3895344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C2B3A"/>
                </a:solidFill>
              </a:rPr>
              <a:t>Polish RESEARCH_PAPER.md for IEEE/ACM submission, finalize project report and documentation.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411480" cy="896112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7589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B8B"/>
                </a:solidFill>
              </a:rPr>
              <a:t>Technical Scope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1498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Evaluates 4 classical ML classifiers (RF, SVM, XGBoost, LightGBM) across 7 split strategies and 3 augmentation variants = 112 fully executed experiments. Deep learning (MLP, LSTM, 1D-CNN) targeted for final phase. Framework is YAML-configurable and modular — new models, datasets, or augmentations can be added without restructuring the core pipeline.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11480" cy="8961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Application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03911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All 4 models achieve sub-millisecond inference latency — directly applicable to on-board, real-time CAN bus monitoring in production vehicles. Attack-holdout evaluation specifically addresses novel/zero-day attacks post-deployment. Designed as a reusable community benchmark for standardized comparison.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761488"/>
            <a:ext cx="85953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411480" cy="8961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</a:rPr>
              <a:t>Academic &amp; Research 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Directly responds to standardization gaps identified by Rajapaksha et al. [4] and Verma et al. [18]. Novel contribution: augmentation-based robustness evaluation for CAN IDS — not present in prior work. Results contribute reproducible baselines; framework designed for open-source release.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785616"/>
            <a:ext cx="85953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785616"/>
            <a:ext cx="411480" cy="8961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8313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Acknowledged 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08736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Post-deduplication dataset (3,588 samples) is small; rarest class (Spoofing-GAS, 25 samples) limits statistical confidence. Only frame-level features used — temporal/signal features may improve detection. Augmentations simulate noise but not adversarially crafted perturbations.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868680"/>
          </a:xfrm>
          <a:prstGeom prst="rect">
            <a:avLst/>
          </a:prstGeom>
          <a:solidFill>
            <a:srgbClr val="0D2247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548640" cy="86868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7863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B8B"/>
                </a:solidFill>
              </a:rPr>
              <a:t>Technical Feasibility Confirmed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03327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Across 112 experiments, all 4 classifiers achieve F1 &gt; 0.99 under standard protocols and sub-millisecond inference — comfortably within real-time CAN bus constraints.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868680"/>
          </a:xfrm>
          <a:prstGeom prst="rect">
            <a:avLst/>
          </a:prstGeom>
          <a:solidFill>
            <a:srgbClr val="0D2247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54864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18105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The Zero-Day Challenge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05740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Detection rates collapse for tree-based models on holdout attacks (XGBoost: 20% DoS, RF: 28%). SVM uniquely maintains 100% DR on DoS and GAS holdouts via smooth kernel boundaries — critical safety implication.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8595360" cy="868680"/>
          </a:xfrm>
          <a:prstGeom prst="rect">
            <a:avLst/>
          </a:prstGeom>
          <a:solidFill>
            <a:srgbClr val="0D2247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548640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779776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8346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Robustness Validated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0815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All models stable under realistic data variations — max F1 delta &lt; 0.004 across 84 augmented experiments. SVM achieves lowest robustness score (0.000232), best for safety-critical environments.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803904"/>
            <a:ext cx="8595360" cy="868680"/>
          </a:xfrm>
          <a:prstGeom prst="rect">
            <a:avLst/>
          </a:prstGeom>
          <a:solidFill>
            <a:srgbClr val="0D2247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803904"/>
            <a:ext cx="54864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803904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3858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Recommendation: Hybrid IDS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410565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LightGBM as primary classifier (optimal accuracy, zero FPR, perfect DR on scenario evaluation) + SVM as secondary anomaly detector targeting novel/zero-day attacks that tree models miss.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67512"/>
            <a:ext cx="411480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6675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CICIoV2024 Dataset &amp; Surveys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[1] E. C. P. Neto et al., CICIoV2024: Advancing Realistic IDS Approaches, IoT vol. 26, 2024.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14081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[2] H. Le &amp; I. Alsmadi, Intrusion Detection for IoV CAN Bus Using ML, Future Internet 18(1), 2026.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810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[3] N. F. Janbi, AI-Driven IDS in IoV: CICIoV2024 Insights, IJACSA 16(3), 2025.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22128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[4] S. Rajapaksha et al., AI-Based IDS for In-Vehicle Networks: A Survey, ACM Comp. Surveys, 2023.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26151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[5] Ö. Özdemir et al., Anomaly Detection in In-Vehicle Networks, arXiv:2409.07505, 2024.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3017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[6] B. Lampe &amp; W. Meng, DL-Based IDS in Automotive, Expert Systems vol. 221, 2023.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34198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[7] In-vehicle IDS: Systematic Survey of DL Approaches, PeerJ Comp. Science, 2023.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38221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[8] W. Wu et al., Deep Transfer Learning in IDS-IoV Review, CMC vol. 80, 2024.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42245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[9] H. M. Song et al., In-vehicle IDS using deep CNN, Vehicular Comm. vol. 21, 2020.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462686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[10] M. D. Hossain et al., LSTM-based IDS for CAN bus, IEEE Access vol. 8, 2020.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667512"/>
            <a:ext cx="411480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28032" y="6675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ML-Based CAN IDS &amp; Datasets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8032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[11] S. Tariq et al., CAN-ADF: CAN Attack Detection Framework, Comp. &amp; Security vol. 94, 2020.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081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[12] L. Yang et al., LCCDE: Ensemble Framework for IDS in IoV, IEEE GLOBECOM, 2022.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28032" y="1810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[13] M. Nazeer et al., Hybrid XGBoost–DL for CAN Bus IDS, JESA, 2024.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28032" y="22128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[14] C. Miller &amp; C. Valasek, Remote Exploitation of Passenger Vehicle, Black Hat USA, 2015.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28032" y="26151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[15] H. M. Song et al., Car-Hacking Dataset, IEEE DataPort, 2018.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28032" y="3017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[16] H. Lee et al., OTIDS: IDS Dataset for In-Vehicle Network, 2017.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28032" y="34198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[17] M. Hanselmann et al., CANet: Unsupervised IDS for CAN Bus, IEEE Access vol. 8, 2020.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28032" y="38221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[18] M. E. Verma et al., Comprehensive Guide to CAN IDS &amp; ROAD Dataset, PLOS ONE, 2024.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28032" y="42245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[19] T. Chen &amp; C. Guestrin, XGBoost: Scalable Tree Boosting System, KDD, 2016.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28032" y="462686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</a:rPr>
              <a:t>[20] G. Ke et al., LightGBM: Highly Efficient Gradient Boosting, NeurIPS, 2017.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8288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526280"/>
            <a:ext cx="91440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6949440" cy="1463040"/>
          </a:xfrm>
          <a:prstGeom prst="rect">
            <a:avLst/>
          </a:prstGeom>
          <a:solidFill>
            <a:srgbClr val="0D2247"/>
          </a:solidFill>
          <a:ln w="254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90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520440"/>
            <a:ext cx="4572000" cy="777240"/>
          </a:xfrm>
          <a:prstGeom prst="rect">
            <a:avLst/>
          </a:prstGeom>
          <a:solidFill>
            <a:srgbClr val="0D2247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31720" y="354787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Developing a Standardized and Reproducible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Evaluation Framework for IoV Intrusion Detection Using the CICIoV2024 Dataset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45262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Manipal Institute of Technology, Manipal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3470</Words>
  <Application>Microsoft Office PowerPoint</Application>
  <PresentationFormat>On-screen Show (16:9)</PresentationFormat>
  <Paragraphs>524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 Standardized and Reproducible Evaluation Framework for IoV Intrusion Detection</dc:title>
  <dc:subject>PptxGenJS Presentation</dc:subject>
  <dc:creator>PptxGenJS</dc:creator>
  <cp:lastModifiedBy>Aarav Bhandari</cp:lastModifiedBy>
  <cp:revision>10</cp:revision>
  <dcterms:created xsi:type="dcterms:W3CDTF">2026-03-25T12:34:24Z</dcterms:created>
  <dcterms:modified xsi:type="dcterms:W3CDTF">2026-04-23T04:03:33Z</dcterms:modified>
</cp:coreProperties>
</file>